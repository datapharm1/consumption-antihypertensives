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9" r:id="rId2"/>
    <p:sldId id="260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EFEDC66-0246-4EE2-BE7C-5BAE2178D3B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E22A-177F-4A41-AB29-5F83111FDA3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068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EDC66-0246-4EE2-BE7C-5BAE2178D3B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E22A-177F-4A41-AB29-5F83111FD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81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EDC66-0246-4EE2-BE7C-5BAE2178D3B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E22A-177F-4A41-AB29-5F83111FDA3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895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EDC66-0246-4EE2-BE7C-5BAE2178D3B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E22A-177F-4A41-AB29-5F83111FD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5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EDC66-0246-4EE2-BE7C-5BAE2178D3B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E22A-177F-4A41-AB29-5F83111FD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4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EDC66-0246-4EE2-BE7C-5BAE2178D3B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E22A-177F-4A41-AB29-5F83111FD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67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EDC66-0246-4EE2-BE7C-5BAE2178D3B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E22A-177F-4A41-AB29-5F83111FD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72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EDC66-0246-4EE2-BE7C-5BAE2178D3B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E22A-177F-4A41-AB29-5F83111FD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037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EDC66-0246-4EE2-BE7C-5BAE2178D3B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E22A-177F-4A41-AB29-5F83111FDA3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873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EDC66-0246-4EE2-BE7C-5BAE2178D3B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E22A-177F-4A41-AB29-5F83111FD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30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EDC66-0246-4EE2-BE7C-5BAE2178D3B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1E22A-177F-4A41-AB29-5F83111FDA3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882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FEDC66-0246-4EE2-BE7C-5BAE2178D3B3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581E22A-177F-4A41-AB29-5F83111FDA3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638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C6E340-0B2B-4A9A-A6B2-1EEFAC687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85D8CC7-90F4-43E7-937C-B6347693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assess the prescribing patterns, dispensing frequency, and consumption of antihypertensive medications in order to inform drug forecasting, enhance monitoring practices, and optimize resource allocation.</a:t>
            </a:r>
          </a:p>
        </p:txBody>
      </p:sp>
    </p:spTree>
    <p:extLst>
      <p:ext uri="{BB962C8B-B14F-4D97-AF65-F5344CB8AC3E}">
        <p14:creationId xmlns:p14="http://schemas.microsoft.com/office/powerpoint/2010/main" val="3867462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3EDA56-B143-4FA1-9C37-98E3B56B3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6ECF32-C2E4-4462-9299-F8F480CAE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describe the demographic characteristics( age, gender) of patients receiving antihypertensive medications during the study period (Feb.2024 – September 2024)</a:t>
            </a:r>
          </a:p>
          <a:p>
            <a:r>
              <a:rPr lang="en-US" dirty="0"/>
              <a:t>To evaluate the types and strengths of antihypertensive drugs prescribed and dispensed during the study period, and to identify the most frequently prescribed antihypertensive drugs.</a:t>
            </a:r>
          </a:p>
          <a:p>
            <a:r>
              <a:rPr lang="en-US" dirty="0"/>
              <a:t>To identify cases of early refills for each antihypertensive medications and determine the amount lost due to early refills</a:t>
            </a:r>
          </a:p>
          <a:p>
            <a:r>
              <a:rPr lang="en-US" dirty="0"/>
              <a:t>To determine the consumption rate of the antihypertensive medications in the clinic</a:t>
            </a:r>
          </a:p>
          <a:p>
            <a:r>
              <a:rPr lang="en-US" dirty="0"/>
              <a:t>To provide recommendations based on findings</a:t>
            </a:r>
          </a:p>
        </p:txBody>
      </p:sp>
    </p:spTree>
    <p:extLst>
      <p:ext uri="{BB962C8B-B14F-4D97-AF65-F5344CB8AC3E}">
        <p14:creationId xmlns:p14="http://schemas.microsoft.com/office/powerpoint/2010/main" val="21437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5FEF5C-0510-4FA0-ABC2-0D51EDB43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508CE8-8353-4E2D-BF97-83A1A3FCF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dispensing data of antihypertensives from February 2024 to September, 2024 was abstracted from the record book and entered into a spreadsheet.</a:t>
            </a:r>
          </a:p>
          <a:p>
            <a:r>
              <a:rPr lang="en-US" dirty="0"/>
              <a:t>Information entered- Personal number, Gender, Age, Date of dispensing, Antihypertensives dispensed and the quantity( 0.5 for 2 weeks, 1 for one month, 2 for two months and so on)</a:t>
            </a:r>
          </a:p>
          <a:p>
            <a:r>
              <a:rPr lang="en-US" dirty="0"/>
              <a:t>The data was cleaned and analyzed using Microsoft Excel and Python packages for data and statistical analysis (</a:t>
            </a:r>
            <a:r>
              <a:rPr lang="en-US" dirty="0" err="1"/>
              <a:t>Numpy</a:t>
            </a:r>
            <a:r>
              <a:rPr lang="en-US" dirty="0"/>
              <a:t>, Pandas, </a:t>
            </a:r>
            <a:r>
              <a:rPr lang="en-US" dirty="0" err="1"/>
              <a:t>Scipy</a:t>
            </a:r>
            <a:r>
              <a:rPr lang="en-US" dirty="0"/>
              <a:t>, Matplotlib)</a:t>
            </a:r>
          </a:p>
        </p:txBody>
      </p:sp>
    </p:spTree>
    <p:extLst>
      <p:ext uri="{BB962C8B-B14F-4D97-AF65-F5344CB8AC3E}">
        <p14:creationId xmlns:p14="http://schemas.microsoft.com/office/powerpoint/2010/main" val="2519189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C915F6-BD84-4A63-B481-80E403661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B9700B-4C3C-4730-8382-79BE49278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47" y="1779656"/>
            <a:ext cx="10515600" cy="4351338"/>
          </a:xfrm>
        </p:spPr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Demographic characteristics (gender) of patients receiving antihypertensive medications during the study period (February 2024 – September 2024).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4CBF2D52-EA88-425A-B0E0-6387E842F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140426"/>
              </p:ext>
            </p:extLst>
          </p:nvPr>
        </p:nvGraphicFramePr>
        <p:xfrm>
          <a:off x="1203157" y="2441908"/>
          <a:ext cx="5077328" cy="27437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38664">
                  <a:extLst>
                    <a:ext uri="{9D8B030D-6E8A-4147-A177-3AD203B41FA5}">
                      <a16:colId xmlns:a16="http://schemas.microsoft.com/office/drawing/2014/main" xmlns="" val="2031811694"/>
                    </a:ext>
                  </a:extLst>
                </a:gridCol>
                <a:gridCol w="2538664">
                  <a:extLst>
                    <a:ext uri="{9D8B030D-6E8A-4147-A177-3AD203B41FA5}">
                      <a16:colId xmlns:a16="http://schemas.microsoft.com/office/drawing/2014/main" xmlns="" val="1469106251"/>
                    </a:ext>
                  </a:extLst>
                </a:gridCol>
              </a:tblGrid>
              <a:tr h="9145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Gender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Count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844865858"/>
                  </a:ext>
                </a:extLst>
              </a:tr>
              <a:tr h="9145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Male   </a:t>
                      </a:r>
                      <a:r>
                        <a:rPr lang="en-US" sz="1100" dirty="0">
                          <a:effectLst/>
                        </a:rPr>
                        <a:t>  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2196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4142484690"/>
                  </a:ext>
                </a:extLst>
              </a:tr>
              <a:tr h="9145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Female   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1802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61872813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C6C3BE6E-B44A-41B8-8C94-2AE072EBE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5083" y="5779372"/>
            <a:ext cx="94808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Summary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clinic saw more male patients with hypertension than female patients during the study period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67774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948235-DD27-4EE5-B085-4784A3629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EFE88A-7660-4573-9DF7-B64166B2E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Demographic characteristics (age) of patients receiving antihypertensive medications during the study period (February 2024 – September 2024).</a:t>
            </a:r>
          </a:p>
          <a:p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0096823B-00FE-4A66-98D5-EE785C75D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320074"/>
              </p:ext>
            </p:extLst>
          </p:nvPr>
        </p:nvGraphicFramePr>
        <p:xfrm>
          <a:off x="1082007" y="2992254"/>
          <a:ext cx="8362782" cy="26108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81391">
                  <a:extLst>
                    <a:ext uri="{9D8B030D-6E8A-4147-A177-3AD203B41FA5}">
                      <a16:colId xmlns:a16="http://schemas.microsoft.com/office/drawing/2014/main" xmlns="" val="1249322588"/>
                    </a:ext>
                  </a:extLst>
                </a:gridCol>
                <a:gridCol w="4181391">
                  <a:extLst>
                    <a:ext uri="{9D8B030D-6E8A-4147-A177-3AD203B41FA5}">
                      <a16:colId xmlns:a16="http://schemas.microsoft.com/office/drawing/2014/main" xmlns="" val="1456738519"/>
                    </a:ext>
                  </a:extLst>
                </a:gridCol>
              </a:tblGrid>
              <a:tr h="4351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Statistics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837840340"/>
                  </a:ext>
                </a:extLst>
              </a:tr>
              <a:tr h="4351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Mean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63.75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892613268"/>
                  </a:ext>
                </a:extLst>
              </a:tr>
              <a:tr h="4351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Standard deviation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10.29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252611224"/>
                  </a:ext>
                </a:extLst>
              </a:tr>
              <a:tr h="4351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Median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65.00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862456345"/>
                  </a:ext>
                </a:extLst>
              </a:tr>
              <a:tr h="4351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Max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92.00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4074452629"/>
                  </a:ext>
                </a:extLst>
              </a:tr>
              <a:tr h="4351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Min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15.00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637963315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03BCBD8B-F8FE-45B3-A55E-4A0D5A523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007" y="5915353"/>
            <a:ext cx="93373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Summary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mean age of antihypertensive patients visiting the clinic during the study period is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64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140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25B45E-8896-47E6-B71D-D5CEB4A02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17D8CD-C552-4EA3-BDEC-C7965CD54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560" y="1676404"/>
            <a:ext cx="9720073" cy="4023360"/>
          </a:xfrm>
        </p:spPr>
        <p:txBody>
          <a:bodyPr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comparative analysis of patients' gender and age- Independent sample t-test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9C846F96-764F-4561-8CD1-DC2C7A011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618960"/>
              </p:ext>
            </p:extLst>
          </p:nvPr>
        </p:nvGraphicFramePr>
        <p:xfrm>
          <a:off x="1034715" y="2409183"/>
          <a:ext cx="7110665" cy="28274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22133">
                  <a:extLst>
                    <a:ext uri="{9D8B030D-6E8A-4147-A177-3AD203B41FA5}">
                      <a16:colId xmlns:a16="http://schemas.microsoft.com/office/drawing/2014/main" xmlns="" val="2413045165"/>
                    </a:ext>
                  </a:extLst>
                </a:gridCol>
                <a:gridCol w="1422133">
                  <a:extLst>
                    <a:ext uri="{9D8B030D-6E8A-4147-A177-3AD203B41FA5}">
                      <a16:colId xmlns:a16="http://schemas.microsoft.com/office/drawing/2014/main" xmlns="" val="930388252"/>
                    </a:ext>
                  </a:extLst>
                </a:gridCol>
                <a:gridCol w="1422133">
                  <a:extLst>
                    <a:ext uri="{9D8B030D-6E8A-4147-A177-3AD203B41FA5}">
                      <a16:colId xmlns:a16="http://schemas.microsoft.com/office/drawing/2014/main" xmlns="" val="841344282"/>
                    </a:ext>
                  </a:extLst>
                </a:gridCol>
                <a:gridCol w="1422133">
                  <a:extLst>
                    <a:ext uri="{9D8B030D-6E8A-4147-A177-3AD203B41FA5}">
                      <a16:colId xmlns:a16="http://schemas.microsoft.com/office/drawing/2014/main" xmlns="" val="2921872809"/>
                    </a:ext>
                  </a:extLst>
                </a:gridCol>
                <a:gridCol w="1422133">
                  <a:extLst>
                    <a:ext uri="{9D8B030D-6E8A-4147-A177-3AD203B41FA5}">
                      <a16:colId xmlns:a16="http://schemas.microsoft.com/office/drawing/2014/main" xmlns="" val="4248315497"/>
                    </a:ext>
                  </a:extLst>
                </a:gridCol>
              </a:tblGrid>
              <a:tr h="8311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Gender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Mean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T-statistics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P-value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Significance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41220755"/>
                  </a:ext>
                </a:extLst>
              </a:tr>
              <a:tr h="11651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Male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66.04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15.9901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0.0000  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</a:rPr>
                        <a:t>Yes</a:t>
                      </a:r>
                      <a:endParaRPr lang="en-US" sz="1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4002011483"/>
                  </a:ext>
                </a:extLst>
              </a:tr>
              <a:tr h="8311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Female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60.97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5403882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C7BD7276-C41A-46FE-8594-BC8A792D1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739058"/>
            <a:ext cx="1062789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Summary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male patients had a significantly higher mean age than the female patients, suggesting that generally the clinic sees more older male patients with hypertension than female patients.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563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74FEC6-CADD-49D5-B242-7BE92AB45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9612"/>
          </a:xfrm>
        </p:spPr>
        <p:txBody>
          <a:bodyPr>
            <a:normAutofit fontScale="90000"/>
          </a:bodyPr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E07C2F-3EC5-4F70-B12C-10852C4EA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585" y="968481"/>
            <a:ext cx="10515600" cy="4351338"/>
          </a:xfrm>
        </p:spPr>
        <p:txBody>
          <a:bodyPr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Evaluation of the types of antihypertensive drugs prescribed and dispensed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8D2C6D1E-36CF-4446-BBA7-963C6B195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34102"/>
              </p:ext>
            </p:extLst>
          </p:nvPr>
        </p:nvGraphicFramePr>
        <p:xfrm>
          <a:off x="996461" y="1442088"/>
          <a:ext cx="9390187" cy="47371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49997">
                  <a:extLst>
                    <a:ext uri="{9D8B030D-6E8A-4147-A177-3AD203B41FA5}">
                      <a16:colId xmlns:a16="http://schemas.microsoft.com/office/drawing/2014/main" xmlns="" val="3766023963"/>
                    </a:ext>
                  </a:extLst>
                </a:gridCol>
                <a:gridCol w="796288">
                  <a:extLst>
                    <a:ext uri="{9D8B030D-6E8A-4147-A177-3AD203B41FA5}">
                      <a16:colId xmlns:a16="http://schemas.microsoft.com/office/drawing/2014/main" xmlns="" val="546905085"/>
                    </a:ext>
                  </a:extLst>
                </a:gridCol>
                <a:gridCol w="845117">
                  <a:extLst>
                    <a:ext uri="{9D8B030D-6E8A-4147-A177-3AD203B41FA5}">
                      <a16:colId xmlns:a16="http://schemas.microsoft.com/office/drawing/2014/main" xmlns="" val="1928182803"/>
                    </a:ext>
                  </a:extLst>
                </a:gridCol>
                <a:gridCol w="933385">
                  <a:extLst>
                    <a:ext uri="{9D8B030D-6E8A-4147-A177-3AD203B41FA5}">
                      <a16:colId xmlns:a16="http://schemas.microsoft.com/office/drawing/2014/main" xmlns="" val="1861740669"/>
                    </a:ext>
                  </a:extLst>
                </a:gridCol>
                <a:gridCol w="933385">
                  <a:extLst>
                    <a:ext uri="{9D8B030D-6E8A-4147-A177-3AD203B41FA5}">
                      <a16:colId xmlns:a16="http://schemas.microsoft.com/office/drawing/2014/main" xmlns="" val="2390035858"/>
                    </a:ext>
                  </a:extLst>
                </a:gridCol>
                <a:gridCol w="933385">
                  <a:extLst>
                    <a:ext uri="{9D8B030D-6E8A-4147-A177-3AD203B41FA5}">
                      <a16:colId xmlns:a16="http://schemas.microsoft.com/office/drawing/2014/main" xmlns="" val="125068595"/>
                    </a:ext>
                  </a:extLst>
                </a:gridCol>
                <a:gridCol w="698630">
                  <a:extLst>
                    <a:ext uri="{9D8B030D-6E8A-4147-A177-3AD203B41FA5}">
                      <a16:colId xmlns:a16="http://schemas.microsoft.com/office/drawing/2014/main" xmlns="" val="3167485861"/>
                    </a:ext>
                  </a:extLst>
                </a:gridCol>
              </a:tblGrid>
              <a:tr h="40760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Medication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200">
                          <a:effectLst/>
                        </a:rPr>
                        <a:t>Two weeks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200" dirty="0">
                          <a:effectLst/>
                        </a:rPr>
                        <a:t>One month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200" dirty="0">
                          <a:effectLst/>
                        </a:rPr>
                        <a:t>Two months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200" dirty="0">
                          <a:effectLst/>
                        </a:rPr>
                        <a:t>Three months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200" dirty="0">
                          <a:effectLst/>
                        </a:rPr>
                        <a:t>Four months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200" dirty="0">
                          <a:effectLst/>
                        </a:rPr>
                        <a:t>Total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81360114"/>
                  </a:ext>
                </a:extLst>
              </a:tr>
              <a:tr h="2164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</a:rPr>
                        <a:t>Amlodipine 10mg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</a:rPr>
                        <a:t>130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</a:rPr>
                        <a:t>2233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2369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653891103"/>
                  </a:ext>
                </a:extLst>
              </a:tr>
              <a:tr h="2164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</a:rPr>
                        <a:t>Losartan 50mg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44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737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790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902163414"/>
                  </a:ext>
                </a:extLst>
              </a:tr>
              <a:tr h="2164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</a:rPr>
                        <a:t>Lisinopril 10mg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61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575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642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144154846"/>
                  </a:ext>
                </a:extLst>
              </a:tr>
              <a:tr h="2164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</a:rPr>
                        <a:t>Amlodipine 5mg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44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476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520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442952297"/>
                  </a:ext>
                </a:extLst>
              </a:tr>
              <a:tr h="2164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</a:rPr>
                        <a:t>Indapamide 1.5mg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465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486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686959442"/>
                  </a:ext>
                </a:extLst>
              </a:tr>
              <a:tr h="2164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</a:rPr>
                        <a:t>Bendroflumethiazide 2.5mg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462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474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608053224"/>
                  </a:ext>
                </a:extLst>
              </a:tr>
              <a:tr h="2164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</a:rPr>
                        <a:t>Bisoprolol 2.5mg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335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372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4095954417"/>
                  </a:ext>
                </a:extLst>
              </a:tr>
              <a:tr h="2164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</a:rPr>
                        <a:t>Lisinopril 5mg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282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282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679234525"/>
                  </a:ext>
                </a:extLst>
              </a:tr>
              <a:tr h="2164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 err="1">
                          <a:effectLst/>
                        </a:rPr>
                        <a:t>Normoretic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219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236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610328652"/>
                  </a:ext>
                </a:extLst>
              </a:tr>
              <a:tr h="2164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</a:rPr>
                        <a:t>Losartan 100mg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26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207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233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287308216"/>
                  </a:ext>
                </a:extLst>
              </a:tr>
              <a:tr h="2164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</a:rPr>
                        <a:t>Telmisartan 80mg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121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129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720958622"/>
                  </a:ext>
                </a:extLst>
              </a:tr>
              <a:tr h="2164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 err="1">
                          <a:effectLst/>
                        </a:rPr>
                        <a:t>Spirinolactone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957294692"/>
                  </a:ext>
                </a:extLst>
              </a:tr>
              <a:tr h="2164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Hydrochlorothiazide 25mg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40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31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71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50050578"/>
                  </a:ext>
                </a:extLst>
              </a:tr>
              <a:tr h="2164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Valsartan 160mg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67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68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854599024"/>
                  </a:ext>
                </a:extLst>
              </a:tr>
              <a:tr h="2164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Nifedipine XL 30mg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58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63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763881332"/>
                  </a:ext>
                </a:extLst>
              </a:tr>
              <a:tr h="2164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Nifedipine 20mg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52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58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818712011"/>
                  </a:ext>
                </a:extLst>
              </a:tr>
              <a:tr h="2164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Methyldopa 250mg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39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55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777340096"/>
                  </a:ext>
                </a:extLst>
              </a:tr>
              <a:tr h="2164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Candesartan 16mg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53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54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733039501"/>
                  </a:ext>
                </a:extLst>
              </a:tr>
              <a:tr h="2164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Aprovasc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49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52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108976490"/>
                  </a:ext>
                </a:extLst>
              </a:tr>
              <a:tr h="2164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</a:rPr>
                        <a:t>Co-</a:t>
                      </a:r>
                      <a:r>
                        <a:rPr lang="en-US" sz="1000" dirty="0" err="1">
                          <a:effectLst/>
                        </a:rPr>
                        <a:t>diovan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47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</a:rPr>
                        <a:t>52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7362398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794299A-478B-44B4-BFE0-52E9C0CD0464}"/>
              </a:ext>
            </a:extLst>
          </p:cNvPr>
          <p:cNvSpPr txBox="1"/>
          <p:nvPr/>
        </p:nvSpPr>
        <p:spPr>
          <a:xfrm>
            <a:off x="996461" y="6167527"/>
            <a:ext cx="8792305" cy="645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Summary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Amlodipine 10mg were prescribed and dispensed</a:t>
            </a:r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2369 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times within the timeframe this study was conducted</a:t>
            </a:r>
          </a:p>
        </p:txBody>
      </p:sp>
    </p:spTree>
    <p:extLst>
      <p:ext uri="{BB962C8B-B14F-4D97-AF65-F5344CB8AC3E}">
        <p14:creationId xmlns:p14="http://schemas.microsoft.com/office/powerpoint/2010/main" val="2659934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CF6490-7D64-46C5-A8DF-83849FDB7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998"/>
          </a:xfrm>
        </p:spPr>
        <p:txBody>
          <a:bodyPr>
            <a:normAutofit fontScale="90000"/>
          </a:bodyPr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DD7DE21-C1E4-428D-A32F-F58A4D3B1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6124"/>
            <a:ext cx="10515600" cy="4351338"/>
          </a:xfrm>
        </p:spPr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the average what percentage of hypertensive patients who visit the clinic per day collect a particular drug, say amlodipine ?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What is the probability that an anti-hypertensive patient in the clinic takes a particular drug, say amlodipine?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159A9EFC-8CBB-4C39-962A-1BA8D9E2B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208460"/>
              </p:ext>
            </p:extLst>
          </p:nvPr>
        </p:nvGraphicFramePr>
        <p:xfrm>
          <a:off x="1172308" y="2356339"/>
          <a:ext cx="8639907" cy="31237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36843">
                  <a:extLst>
                    <a:ext uri="{9D8B030D-6E8A-4147-A177-3AD203B41FA5}">
                      <a16:colId xmlns:a16="http://schemas.microsoft.com/office/drawing/2014/main" xmlns="" val="1811897172"/>
                    </a:ext>
                  </a:extLst>
                </a:gridCol>
                <a:gridCol w="1928428">
                  <a:extLst>
                    <a:ext uri="{9D8B030D-6E8A-4147-A177-3AD203B41FA5}">
                      <a16:colId xmlns:a16="http://schemas.microsoft.com/office/drawing/2014/main" xmlns="" val="2526967221"/>
                    </a:ext>
                  </a:extLst>
                </a:gridCol>
                <a:gridCol w="1774636">
                  <a:extLst>
                    <a:ext uri="{9D8B030D-6E8A-4147-A177-3AD203B41FA5}">
                      <a16:colId xmlns:a16="http://schemas.microsoft.com/office/drawing/2014/main" xmlns="" val="4042163683"/>
                    </a:ext>
                  </a:extLst>
                </a:gridCol>
              </a:tblGrid>
              <a:tr h="4042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Medication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effectLst/>
                        </a:rPr>
                        <a:t>Average Daily Percentage (%)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400" dirty="0">
                          <a:effectLst/>
                        </a:rPr>
                        <a:t>Probability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781416050"/>
                  </a:ext>
                </a:extLst>
              </a:tr>
              <a:tr h="2667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Amlodipine 10mg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59.4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0.6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2014151560"/>
                  </a:ext>
                </a:extLst>
              </a:tr>
              <a:tr h="2667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Lisinopril 10mg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20.2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1169014904"/>
                  </a:ext>
                </a:extLst>
              </a:tr>
              <a:tr h="2667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</a:rPr>
                        <a:t>Losartan 50mg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2528798544"/>
                  </a:ext>
                </a:extLst>
              </a:tr>
              <a:tr h="2667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Indapamide 1.5mg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12.5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650607168"/>
                  </a:ext>
                </a:extLst>
              </a:tr>
              <a:tr h="2667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Bendroflumethiazide 2.5mg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12.4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2614193502"/>
                  </a:ext>
                </a:extLst>
              </a:tr>
              <a:tr h="2667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Amlodipine 5mg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3763888743"/>
                  </a:ext>
                </a:extLst>
              </a:tr>
              <a:tr h="2667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</a:rPr>
                        <a:t>Bisoprolol 2.5mg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9.7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1472412426"/>
                  </a:ext>
                </a:extLst>
              </a:tr>
              <a:tr h="2667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Losartan 100mg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7.2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3082179378"/>
                  </a:ext>
                </a:extLst>
              </a:tr>
              <a:tr h="2667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Lisinopril 5mg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6.4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0.1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2270383183"/>
                  </a:ext>
                </a:extLst>
              </a:tr>
              <a:tr h="2667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Normoretic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>
                          <a:effectLst/>
                        </a:rPr>
                        <a:t>5.7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000" dirty="0">
                          <a:effectLst/>
                        </a:rPr>
                        <a:t>0.1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13593102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2923B7C-01B2-4FE0-B104-1B612803A6DB}"/>
              </a:ext>
            </a:extLst>
          </p:cNvPr>
          <p:cNvSpPr txBox="1"/>
          <p:nvPr/>
        </p:nvSpPr>
        <p:spPr>
          <a:xfrm>
            <a:off x="1166445" y="5847120"/>
            <a:ext cx="10210800" cy="645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 of every 100 hypertensive patients that visit the clinic in a day, about 60 of them collect Amlodipine 10mg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probability that a hypertensive patient that walks into the clinic in a day collects Amlodipine 10mg is 0.6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28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238DFE-7E79-4683-ACB7-853EAA993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1B18D1-C34F-44FC-8921-54641B458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Days of the week and filled antihypertensive prescriptions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956B6774-0A77-428A-A2E6-CE49D5484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975295"/>
              </p:ext>
            </p:extLst>
          </p:nvPr>
        </p:nvGraphicFramePr>
        <p:xfrm>
          <a:off x="1031630" y="2368059"/>
          <a:ext cx="7221416" cy="27783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10708">
                  <a:extLst>
                    <a:ext uri="{9D8B030D-6E8A-4147-A177-3AD203B41FA5}">
                      <a16:colId xmlns:a16="http://schemas.microsoft.com/office/drawing/2014/main" xmlns="" val="1227922585"/>
                    </a:ext>
                  </a:extLst>
                </a:gridCol>
                <a:gridCol w="3610708">
                  <a:extLst>
                    <a:ext uri="{9D8B030D-6E8A-4147-A177-3AD203B41FA5}">
                      <a16:colId xmlns:a16="http://schemas.microsoft.com/office/drawing/2014/main" xmlns="" val="4123574496"/>
                    </a:ext>
                  </a:extLst>
                </a:gridCol>
              </a:tblGrid>
              <a:tr h="501110">
                <a:tc>
                  <a:txBody>
                    <a:bodyPr/>
                    <a:lstStyle/>
                    <a:p>
                      <a:pPr marL="0" marR="0" algn="ctr" latinLnBrk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800" dirty="0">
                          <a:effectLst/>
                        </a:rPr>
                        <a:t>Day Of Week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Count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115494613"/>
                  </a:ext>
                </a:extLst>
              </a:tr>
              <a:tr h="4554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Monday      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851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009627773"/>
                  </a:ext>
                </a:extLst>
              </a:tr>
              <a:tr h="4554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Tuesday     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825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310464788"/>
                  </a:ext>
                </a:extLst>
              </a:tr>
              <a:tr h="4554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Thursday    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823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494014109"/>
                  </a:ext>
                </a:extLst>
              </a:tr>
              <a:tr h="4554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Wednesday   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759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086260180"/>
                  </a:ext>
                </a:extLst>
              </a:tr>
              <a:tr h="4554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Friday      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740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4307161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8E44C17-6EB3-4175-8E1C-E2771D61E18F}"/>
              </a:ext>
            </a:extLst>
          </p:cNvPr>
          <p:cNvSpPr txBox="1"/>
          <p:nvPr/>
        </p:nvSpPr>
        <p:spPr>
          <a:xfrm>
            <a:off x="1031630" y="5390766"/>
            <a:ext cx="8522678" cy="645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Summary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Antihypertensive medications were most filled on Mondays and least on Fridays</a:t>
            </a:r>
          </a:p>
        </p:txBody>
      </p:sp>
    </p:spTree>
    <p:extLst>
      <p:ext uri="{BB962C8B-B14F-4D97-AF65-F5344CB8AC3E}">
        <p14:creationId xmlns:p14="http://schemas.microsoft.com/office/powerpoint/2010/main" val="2738177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F68E02-524F-4FAE-A407-327FE479E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557"/>
            <a:ext cx="10515600" cy="678229"/>
          </a:xfrm>
        </p:spPr>
        <p:txBody>
          <a:bodyPr>
            <a:normAutofit fontScale="90000"/>
          </a:bodyPr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067CA1B-71CD-49DD-A658-9D2947571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969" y="715110"/>
            <a:ext cx="10515600" cy="4351338"/>
          </a:xfrm>
        </p:spPr>
        <p:txBody>
          <a:bodyPr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Detection of cases of early refills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A9F6D414-8041-424E-AA5D-28B57ECC3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964548"/>
              </p:ext>
            </p:extLst>
          </p:nvPr>
        </p:nvGraphicFramePr>
        <p:xfrm>
          <a:off x="961292" y="1066805"/>
          <a:ext cx="8991599" cy="50061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28493">
                  <a:extLst>
                    <a:ext uri="{9D8B030D-6E8A-4147-A177-3AD203B41FA5}">
                      <a16:colId xmlns:a16="http://schemas.microsoft.com/office/drawing/2014/main" xmlns="" val="1813185483"/>
                    </a:ext>
                  </a:extLst>
                </a:gridCol>
                <a:gridCol w="3763106">
                  <a:extLst>
                    <a:ext uri="{9D8B030D-6E8A-4147-A177-3AD203B41FA5}">
                      <a16:colId xmlns:a16="http://schemas.microsoft.com/office/drawing/2014/main" xmlns="" val="880788154"/>
                    </a:ext>
                  </a:extLst>
                </a:gridCol>
              </a:tblGrid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Medication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Early Refills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557478216"/>
                  </a:ext>
                </a:extLst>
              </a:tr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Amlodipine 10mg_Early                 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456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322984405"/>
                  </a:ext>
                </a:extLst>
              </a:tr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Losartan 50mg_Early                   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119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009056955"/>
                  </a:ext>
                </a:extLst>
              </a:tr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Lisinopril 10mg_Early                 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552221061"/>
                  </a:ext>
                </a:extLst>
              </a:tr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Indapamide 1.5mg_Early                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82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420060458"/>
                  </a:ext>
                </a:extLst>
              </a:tr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Bendroflumethiazide 2.5mg_Early       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68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4274514790"/>
                  </a:ext>
                </a:extLst>
              </a:tr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Bisoprolol 2.5mg_Early                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67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631005715"/>
                  </a:ext>
                </a:extLst>
              </a:tr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Amlodipine 5mg_Early                  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51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517078202"/>
                  </a:ext>
                </a:extLst>
              </a:tr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Losartan 100mg_Early                  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39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107003450"/>
                  </a:ext>
                </a:extLst>
              </a:tr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Normoretic_Early                      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32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578187410"/>
                  </a:ext>
                </a:extLst>
              </a:tr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Spirinolactone_Early                  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22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754961425"/>
                  </a:ext>
                </a:extLst>
              </a:tr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Lisinopril 5mg_Early                  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22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4056235895"/>
                  </a:ext>
                </a:extLst>
              </a:tr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Telmisartan 80mg_Early                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525662233"/>
                  </a:ext>
                </a:extLst>
              </a:tr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Nifedipine XL 30mg_Early              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15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063888792"/>
                  </a:ext>
                </a:extLst>
              </a:tr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Candesartan 16mg_Early                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11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744034729"/>
                  </a:ext>
                </a:extLst>
              </a:tr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Nifedipine 20mg_Early                 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638449051"/>
                  </a:ext>
                </a:extLst>
              </a:tr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Aprovasc_Early                        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 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4108583960"/>
                  </a:ext>
                </a:extLst>
              </a:tr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Labetalol hydrochloride_Early         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 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522367208"/>
                  </a:ext>
                </a:extLst>
              </a:tr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Atenolol 100mg_Early                  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 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592600904"/>
                  </a:ext>
                </a:extLst>
              </a:tr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Coveram plus(10mg/2.5mg/10mg)_Early   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  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996904882"/>
                  </a:ext>
                </a:extLst>
              </a:tr>
              <a:tr h="238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Valsartan 80mg_Early                  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  6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89198452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A951D95-FEE0-4FCF-8E0F-F2CFE1949EB7}"/>
              </a:ext>
            </a:extLst>
          </p:cNvPr>
          <p:cNvSpPr txBox="1"/>
          <p:nvPr/>
        </p:nvSpPr>
        <p:spPr>
          <a:xfrm>
            <a:off x="720969" y="6072921"/>
            <a:ext cx="7872046" cy="645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Summary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were 456 cases of early refill of Amlodipine 10mg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962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E0753A-0D52-45B7-9C01-3BB17B507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0660"/>
          </a:xfrm>
        </p:spPr>
        <p:txBody>
          <a:bodyPr>
            <a:normAutofit fontScale="90000"/>
          </a:bodyPr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008EF9-1755-4711-BA9A-04BA5FC02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55786"/>
            <a:ext cx="10515600" cy="4351338"/>
          </a:xfrm>
        </p:spPr>
        <p:txBody>
          <a:bodyPr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Tablet leftovers (The amount of medicine(tablets) remaining with the patients as of the time he/she came for the early refill) and total packs lost due to early refill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F336BA3B-79E3-48BC-9571-7CD4C1936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921600"/>
              </p:ext>
            </p:extLst>
          </p:nvPr>
        </p:nvGraphicFramePr>
        <p:xfrm>
          <a:off x="973015" y="1650876"/>
          <a:ext cx="10002714" cy="4489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67158">
                  <a:extLst>
                    <a:ext uri="{9D8B030D-6E8A-4147-A177-3AD203B41FA5}">
                      <a16:colId xmlns:a16="http://schemas.microsoft.com/office/drawing/2014/main" xmlns="" val="2822049391"/>
                    </a:ext>
                  </a:extLst>
                </a:gridCol>
                <a:gridCol w="2074562">
                  <a:extLst>
                    <a:ext uri="{9D8B030D-6E8A-4147-A177-3AD203B41FA5}">
                      <a16:colId xmlns:a16="http://schemas.microsoft.com/office/drawing/2014/main" xmlns="" val="763191266"/>
                    </a:ext>
                  </a:extLst>
                </a:gridCol>
                <a:gridCol w="1812492">
                  <a:extLst>
                    <a:ext uri="{9D8B030D-6E8A-4147-A177-3AD203B41FA5}">
                      <a16:colId xmlns:a16="http://schemas.microsoft.com/office/drawing/2014/main" xmlns="" val="2557470542"/>
                    </a:ext>
                  </a:extLst>
                </a:gridCol>
                <a:gridCol w="1848502">
                  <a:extLst>
                    <a:ext uri="{9D8B030D-6E8A-4147-A177-3AD203B41FA5}">
                      <a16:colId xmlns:a16="http://schemas.microsoft.com/office/drawing/2014/main" xmlns="" val="1701391060"/>
                    </a:ext>
                  </a:extLst>
                </a:gridCol>
              </a:tblGrid>
              <a:tr h="40249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Medication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Quantity in a pack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Total tablet lost </a:t>
                      </a:r>
                      <a:endParaRPr lang="en-US" sz="1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 early refill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Total packs lost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74850476"/>
                  </a:ext>
                </a:extLst>
              </a:tr>
              <a:tr h="2043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Amlodipine 10mg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4708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157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1719672649"/>
                  </a:ext>
                </a:extLst>
              </a:tr>
              <a:tr h="2043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Losartan 50mg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269221102"/>
                  </a:ext>
                </a:extLst>
              </a:tr>
              <a:tr h="2043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Lisinopril 10mg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1168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953393312"/>
                  </a:ext>
                </a:extLst>
              </a:tr>
              <a:tr h="2043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Indapamide 1.5mg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3860658859"/>
                  </a:ext>
                </a:extLst>
              </a:tr>
              <a:tr h="2043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Bisoprolol 2.5mg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984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3232639517"/>
                  </a:ext>
                </a:extLst>
              </a:tr>
              <a:tr h="2043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Bendroflumethiazide 2.5mg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1975957802"/>
                  </a:ext>
                </a:extLst>
              </a:tr>
              <a:tr h="2043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Amlodipine 5mg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603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968343836"/>
                  </a:ext>
                </a:extLst>
              </a:tr>
              <a:tr h="2043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Normoretic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356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2998690736"/>
                  </a:ext>
                </a:extLst>
              </a:tr>
              <a:tr h="2043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Lisinopril 5mg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3510798361"/>
                  </a:ext>
                </a:extLst>
              </a:tr>
              <a:tr h="2043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Spirinolactone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184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861899071"/>
                  </a:ext>
                </a:extLst>
              </a:tr>
              <a:tr h="2043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Telmisartan 80mg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160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3463125994"/>
                  </a:ext>
                </a:extLst>
              </a:tr>
              <a:tr h="2043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Nifedipine XL 30mg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2811321737"/>
                  </a:ext>
                </a:extLst>
              </a:tr>
              <a:tr h="2043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Aprovasc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135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1415042319"/>
                  </a:ext>
                </a:extLst>
              </a:tr>
              <a:tr h="2043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Nifedipine 20mg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681329318"/>
                  </a:ext>
                </a:extLst>
              </a:tr>
              <a:tr h="2043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Labetalol hydrochloride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3303774674"/>
                  </a:ext>
                </a:extLst>
              </a:tr>
              <a:tr h="2043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Candesartan 16mg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473751656"/>
                  </a:ext>
                </a:extLst>
              </a:tr>
              <a:tr h="2043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Coveram plus(10mg/2.5mg/10mg)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3216467847"/>
                  </a:ext>
                </a:extLst>
              </a:tr>
              <a:tr h="2043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Co-diovan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1376253842"/>
                  </a:ext>
                </a:extLst>
              </a:tr>
              <a:tr h="2043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Atenolol 100mg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2590220475"/>
                  </a:ext>
                </a:extLst>
              </a:tr>
              <a:tr h="2043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Valsartan 80mg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xmlns="" val="28434733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A1F93BF-EA49-4101-A9CE-E5C31D528E95}"/>
              </a:ext>
            </a:extLst>
          </p:cNvPr>
          <p:cNvSpPr txBox="1"/>
          <p:nvPr/>
        </p:nvSpPr>
        <p:spPr>
          <a:xfrm>
            <a:off x="973015" y="6169997"/>
            <a:ext cx="10996247" cy="645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Summary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the period of this study, 4708 tablets which is about 157 packs of Amlodipine by 30 has been lost to early refill</a:t>
            </a:r>
          </a:p>
        </p:txBody>
      </p:sp>
    </p:spTree>
    <p:extLst>
      <p:ext uri="{BB962C8B-B14F-4D97-AF65-F5344CB8AC3E}">
        <p14:creationId xmlns:p14="http://schemas.microsoft.com/office/powerpoint/2010/main" val="3813782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6CD2C1-534D-4827-A294-248FC7E7B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4106"/>
          </a:xfrm>
        </p:spPr>
        <p:txBody>
          <a:bodyPr>
            <a:normAutofit fontScale="90000"/>
          </a:bodyPr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47DCD3D-B327-4D98-8DAF-CC02B1C8B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9232"/>
            <a:ext cx="10515600" cy="4351338"/>
          </a:xfrm>
        </p:spPr>
        <p:txBody>
          <a:bodyPr/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Identification of antihypertensive medication with the highest consumption- 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packs of the medication consumed within the time frame of the study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7DD36AA6-4BC1-4DA1-8446-D57ADB818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921106"/>
              </p:ext>
            </p:extLst>
          </p:nvPr>
        </p:nvGraphicFramePr>
        <p:xfrm>
          <a:off x="1148862" y="1598369"/>
          <a:ext cx="9296399" cy="43222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67558">
                  <a:extLst>
                    <a:ext uri="{9D8B030D-6E8A-4147-A177-3AD203B41FA5}">
                      <a16:colId xmlns:a16="http://schemas.microsoft.com/office/drawing/2014/main" xmlns="" val="2811953057"/>
                    </a:ext>
                  </a:extLst>
                </a:gridCol>
                <a:gridCol w="1942947">
                  <a:extLst>
                    <a:ext uri="{9D8B030D-6E8A-4147-A177-3AD203B41FA5}">
                      <a16:colId xmlns:a16="http://schemas.microsoft.com/office/drawing/2014/main" xmlns="" val="3272653375"/>
                    </a:ext>
                  </a:extLst>
                </a:gridCol>
                <a:gridCol w="1942947">
                  <a:extLst>
                    <a:ext uri="{9D8B030D-6E8A-4147-A177-3AD203B41FA5}">
                      <a16:colId xmlns:a16="http://schemas.microsoft.com/office/drawing/2014/main" xmlns="" val="1400163115"/>
                    </a:ext>
                  </a:extLst>
                </a:gridCol>
                <a:gridCol w="1942947">
                  <a:extLst>
                    <a:ext uri="{9D8B030D-6E8A-4147-A177-3AD203B41FA5}">
                      <a16:colId xmlns:a16="http://schemas.microsoft.com/office/drawing/2014/main" xmlns="" val="2652494313"/>
                    </a:ext>
                  </a:extLst>
                </a:gridCol>
              </a:tblGrid>
              <a:tr h="4012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Medication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Quantity in a pack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Total packs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Average Monthly consumption(packs)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95300786"/>
                  </a:ext>
                </a:extLst>
              </a:tr>
              <a:tr h="196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Amlodipine 10mg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2159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270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174470544"/>
                  </a:ext>
                </a:extLst>
              </a:tr>
              <a:tr h="196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Losartan 50mg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1,519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190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966983144"/>
                  </a:ext>
                </a:extLst>
              </a:tr>
              <a:tr h="196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Lisinopril 10mg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1184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19587669"/>
                  </a:ext>
                </a:extLst>
              </a:tr>
              <a:tr h="196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Indapamide 1.5mg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407374745"/>
                  </a:ext>
                </a:extLst>
              </a:tr>
              <a:tr h="196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Amlodipine 5mg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498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528955184"/>
                  </a:ext>
                </a:extLst>
              </a:tr>
              <a:tr h="196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Bendroflumethiazide 2.5mg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485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160231144"/>
                  </a:ext>
                </a:extLst>
              </a:tr>
              <a:tr h="196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Bisoprolol 2.5mg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479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243608193"/>
                  </a:ext>
                </a:extLst>
              </a:tr>
              <a:tr h="196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Lisinopril 5mg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55183046"/>
                  </a:ext>
                </a:extLst>
              </a:tr>
              <a:tr h="196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Hydrochlorothiazide 25mg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78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396125100"/>
                  </a:ext>
                </a:extLst>
              </a:tr>
              <a:tr h="196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Normoretic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5383853"/>
                  </a:ext>
                </a:extLst>
              </a:tr>
              <a:tr h="196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Telmisartan 80mg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768587034"/>
                  </a:ext>
                </a:extLst>
              </a:tr>
              <a:tr h="196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Spirinolactone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559398423"/>
                  </a:ext>
                </a:extLst>
              </a:tr>
              <a:tr h="196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Valsartan 160mg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796635719"/>
                  </a:ext>
                </a:extLst>
              </a:tr>
              <a:tr h="196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Nifedipine XL 30mg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510111471"/>
                  </a:ext>
                </a:extLst>
              </a:tr>
              <a:tr h="196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Methyldopa 250mg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760345183"/>
                  </a:ext>
                </a:extLst>
              </a:tr>
              <a:tr h="196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Nifedipine 20mg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897046926"/>
                  </a:ext>
                </a:extLst>
              </a:tr>
              <a:tr h="196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Candesartan 16mg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081433422"/>
                  </a:ext>
                </a:extLst>
              </a:tr>
              <a:tr h="196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Aprovasc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012266240"/>
                  </a:ext>
                </a:extLst>
              </a:tr>
              <a:tr h="196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Co-diovan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539844260"/>
                  </a:ext>
                </a:extLst>
              </a:tr>
              <a:tr h="1960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Coveram plus(10mg/2.5mg/10mg)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1518341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CF5FBE2-642D-4EBA-9B5B-6B23EF57C83B}"/>
              </a:ext>
            </a:extLst>
          </p:cNvPr>
          <p:cNvSpPr txBox="1"/>
          <p:nvPr/>
        </p:nvSpPr>
        <p:spPr>
          <a:xfrm>
            <a:off x="1008186" y="5949707"/>
            <a:ext cx="9003322" cy="876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Summary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2159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packs of amlodipine by 30 were consumed within the time frame of this study. The average monthly consumption of Amlodipine 10mg is </a:t>
            </a:r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270 packs</a:t>
            </a:r>
          </a:p>
        </p:txBody>
      </p:sp>
    </p:spTree>
    <p:extLst>
      <p:ext uri="{BB962C8B-B14F-4D97-AF65-F5344CB8AC3E}">
        <p14:creationId xmlns:p14="http://schemas.microsoft.com/office/powerpoint/2010/main" val="551516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1CB95B-5380-4857-BB71-E536F805A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3D934A8-60F3-4035-8272-9754C2FE7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800" b="1" i="0" u="none" strike="noStrike" baseline="0" dirty="0">
                <a:latin typeface="TimesNewRomanPS-BoldMT"/>
              </a:rPr>
              <a:t>1. Implementation of an Electronic Medical Record (EMR) System</a:t>
            </a:r>
          </a:p>
          <a:p>
            <a:pPr algn="l"/>
            <a:r>
              <a:rPr lang="en-US" sz="1800" b="1" i="0" u="none" strike="noStrike" baseline="0" dirty="0">
                <a:latin typeface="TimesNewRomanPS-BoldMT"/>
              </a:rPr>
              <a:t>2. Patient-Based Drug Bin Cards</a:t>
            </a:r>
          </a:p>
          <a:p>
            <a:pPr marL="0" indent="0">
              <a:buNone/>
            </a:pPr>
            <a:r>
              <a:rPr lang="en-US" sz="1800" dirty="0">
                <a:latin typeface="KingsoftSign"/>
              </a:rPr>
              <a:t>	- </a:t>
            </a:r>
            <a:r>
              <a:rPr lang="en-US" sz="1800" b="0" i="0" u="none" strike="noStrike" baseline="0" dirty="0">
                <a:latin typeface="TimesNewRomanPSMT"/>
              </a:rPr>
              <a:t>The bin cards records quantities dispensed and refill dates to ensure accuracy and minimize 	wastage.</a:t>
            </a:r>
          </a:p>
          <a:p>
            <a:pPr marL="0" indent="0">
              <a:buNone/>
            </a:pPr>
            <a:r>
              <a:rPr lang="en-US" sz="1800" dirty="0">
                <a:latin typeface="KingsoftSign"/>
              </a:rPr>
              <a:t>	- </a:t>
            </a:r>
            <a:r>
              <a:rPr lang="en-US" sz="1800" b="0" i="0" u="none" strike="noStrike" baseline="0" dirty="0">
                <a:latin typeface="TimesNewRomanPSMT"/>
              </a:rPr>
              <a:t>Patients present the card during each refill for verification and updates, ensuring consistent 	tracking.</a:t>
            </a:r>
          </a:p>
        </p:txBody>
      </p:sp>
    </p:spTree>
    <p:extLst>
      <p:ext uri="{BB962C8B-B14F-4D97-AF65-F5344CB8AC3E}">
        <p14:creationId xmlns:p14="http://schemas.microsoft.com/office/powerpoint/2010/main" val="3221947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C37E37-2FC7-4EC0-9426-0B3B96662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Implementable solution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6D2EE1C2-191C-4AF8-990D-F85D693A5B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675366"/>
            <a:ext cx="9366738" cy="4633359"/>
          </a:xfrm>
        </p:spPr>
      </p:pic>
    </p:spTree>
    <p:extLst>
      <p:ext uri="{BB962C8B-B14F-4D97-AF65-F5344CB8AC3E}">
        <p14:creationId xmlns:p14="http://schemas.microsoft.com/office/powerpoint/2010/main" val="3292446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2829</TotalTime>
  <Words>1166</Words>
  <Application>Microsoft Office PowerPoint</Application>
  <PresentationFormat>Widescreen</PresentationFormat>
  <Paragraphs>488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Calibri</vt:lpstr>
      <vt:lpstr>KingsoftSign</vt:lpstr>
      <vt:lpstr>Times New Roman</vt:lpstr>
      <vt:lpstr>TimesNewRomanPS-BoldMT</vt:lpstr>
      <vt:lpstr>TimesNewRomanPSMT</vt:lpstr>
      <vt:lpstr>Tw Cen MT</vt:lpstr>
      <vt:lpstr>Tw Cen MT Condensed</vt:lpstr>
      <vt:lpstr>Wingdings 3</vt:lpstr>
      <vt:lpstr>Integral</vt:lpstr>
      <vt:lpstr>AIM</vt:lpstr>
      <vt:lpstr>Specific Objectives</vt:lpstr>
      <vt:lpstr>Procedure</vt:lpstr>
      <vt:lpstr>Findings</vt:lpstr>
      <vt:lpstr>Findings</vt:lpstr>
      <vt:lpstr>Findings</vt:lpstr>
      <vt:lpstr>Findings</vt:lpstr>
      <vt:lpstr>Findings</vt:lpstr>
      <vt:lpstr>Findings</vt:lpstr>
      <vt:lpstr>Findings</vt:lpstr>
      <vt:lpstr>Findings</vt:lpstr>
      <vt:lpstr>Findings</vt:lpstr>
      <vt:lpstr>Recommendations</vt:lpstr>
      <vt:lpstr>Implementable solution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and Findings of the Retrospective Study- Prescription Patterns and Patient Consumption Behavior of Antihypertensive Medications in Bode Thomas Medical Center, Nigerian Ports Authority and Recommendations</dc:title>
  <dc:creator>calebnich7@gmail.com</dc:creator>
  <cp:lastModifiedBy>USER</cp:lastModifiedBy>
  <cp:revision>20</cp:revision>
  <dcterms:created xsi:type="dcterms:W3CDTF">2025-10-28T09:16:23Z</dcterms:created>
  <dcterms:modified xsi:type="dcterms:W3CDTF">2025-11-17T05:23:12Z</dcterms:modified>
</cp:coreProperties>
</file>